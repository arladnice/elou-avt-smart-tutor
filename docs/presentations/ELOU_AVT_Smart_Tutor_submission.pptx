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3f20e004a463e" /><Relationship Type="http://schemas.openxmlformats.org/officeDocument/2006/relationships/extended-properties" Target="/docProps/app.xml" Id="R47a5682bb1f94486" /><Relationship Type="http://schemas.openxmlformats.org/officeDocument/2006/relationships/officeDocument" Target="/ppt/presentation.xml" Id="R06eb413022d945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b1e8d88374843"/>
  </p:sldMasterIdLst>
  <p:notesMasterIdLst>
    <p:notesMasterId xmlns:r="http://schemas.openxmlformats.org/officeDocument/2006/relationships" r:id="R6506e49ca2d44a28"/>
  </p:notesMasterIdLst>
  <p:sldIdLst>
    <p:sldId xmlns:r="http://schemas.openxmlformats.org/officeDocument/2006/relationships" id="256" r:id="R0009cdf6aff44b24"/>
    <p:sldId xmlns:r="http://schemas.openxmlformats.org/officeDocument/2006/relationships" id="257" r:id="Rfef4e0bdf84f4938"/>
    <p:sldId xmlns:r="http://schemas.openxmlformats.org/officeDocument/2006/relationships" id="258" r:id="R6f4ea25c8b14443f"/>
    <p:sldId xmlns:r="http://schemas.openxmlformats.org/officeDocument/2006/relationships" id="259" r:id="Rf556a248a1514133"/>
    <p:sldId xmlns:r="http://schemas.openxmlformats.org/officeDocument/2006/relationships" id="260" r:id="R5181a5175ed943de"/>
    <p:sldId xmlns:r="http://schemas.openxmlformats.org/officeDocument/2006/relationships" id="261" r:id="Rffeb1875df3d4fb7"/>
    <p:sldId xmlns:r="http://schemas.openxmlformats.org/officeDocument/2006/relationships" id="262" r:id="R7b24b8c638d844eb"/>
    <p:sldId xmlns:r="http://schemas.openxmlformats.org/officeDocument/2006/relationships" id="263" r:id="R49659f4ed55e49da"/>
    <p:sldId xmlns:r="http://schemas.openxmlformats.org/officeDocument/2006/relationships" id="264" r:id="R3fcab73528ad403f"/>
    <p:sldId xmlns:r="http://schemas.openxmlformats.org/officeDocument/2006/relationships" id="265" r:id="Rc226080317284112"/>
    <p:sldId xmlns:r="http://schemas.openxmlformats.org/officeDocument/2006/relationships" id="266" r:id="R8d75eea240cc4c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bcd11495994576" /><Relationship Type="http://schemas.openxmlformats.org/officeDocument/2006/relationships/slideMaster" Target="/ppt/slideMasters/slideMaster1.xml" Id="R5e5b1e8d88374843" /><Relationship Type="http://schemas.openxmlformats.org/officeDocument/2006/relationships/notesMaster" Target="/ppt/notesMasters/notesMaster1.xml" Id="R6506e49ca2d44a28" /><Relationship Type="http://schemas.openxmlformats.org/officeDocument/2006/relationships/presProps" Target="/ppt/presProps.xml" Id="R0607aee9a9a04472" /><Relationship Type="http://schemas.openxmlformats.org/officeDocument/2006/relationships/viewProps" Target="/ppt/viewProps.xml" Id="R2552d621734147b8" /><Relationship Type="http://schemas.openxmlformats.org/officeDocument/2006/relationships/tableStyles" Target="/ppt/tableStyles.xml" Id="R33468106616649db" /><Relationship Type="http://schemas.openxmlformats.org/officeDocument/2006/relationships/slide" Target="/ppt/slides/slide1.xml" Id="R0009cdf6aff44b24" /><Relationship Type="http://schemas.openxmlformats.org/officeDocument/2006/relationships/slide" Target="/ppt/slides/slide2.xml" Id="Rfef4e0bdf84f4938" /><Relationship Type="http://schemas.openxmlformats.org/officeDocument/2006/relationships/slide" Target="/ppt/slides/slide3.xml" Id="R6f4ea25c8b14443f" /><Relationship Type="http://schemas.openxmlformats.org/officeDocument/2006/relationships/slide" Target="/ppt/slides/slide4.xml" Id="Rf556a248a1514133" /><Relationship Type="http://schemas.openxmlformats.org/officeDocument/2006/relationships/slide" Target="/ppt/slides/slide5.xml" Id="R5181a5175ed943de" /><Relationship Type="http://schemas.openxmlformats.org/officeDocument/2006/relationships/slide" Target="/ppt/slides/slide6.xml" Id="Rffeb1875df3d4fb7" /><Relationship Type="http://schemas.openxmlformats.org/officeDocument/2006/relationships/slide" Target="/ppt/slides/slide7.xml" Id="R7b24b8c638d844eb" /><Relationship Type="http://schemas.openxmlformats.org/officeDocument/2006/relationships/slide" Target="/ppt/slides/slide8.xml" Id="R49659f4ed55e49da" /><Relationship Type="http://schemas.openxmlformats.org/officeDocument/2006/relationships/slide" Target="/ppt/slides/slide9.xml" Id="R3fcab73528ad403f" /><Relationship Type="http://schemas.openxmlformats.org/officeDocument/2006/relationships/slide" Target="/ppt/slides/slide10.xml" Id="Rc226080317284112" /><Relationship Type="http://schemas.openxmlformats.org/officeDocument/2006/relationships/slide" Target="/ppt/slides/slide11.xml" Id="R8d75eea240cc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751c7304440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57d2323a5495a" /><Relationship Type="http://schemas.openxmlformats.org/officeDocument/2006/relationships/notesMaster" Target="/ppt/notesMasters/notesMaster1.xml" Id="R06d1232fb735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d326f6d05481a" /><Relationship Type="http://schemas.openxmlformats.org/officeDocument/2006/relationships/notesMaster" Target="/ppt/notesMasters/notesMaster1.xml" Id="R563e50fb1bc34f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51c4abe51429e" /><Relationship Type="http://schemas.openxmlformats.org/officeDocument/2006/relationships/notesMaster" Target="/ppt/notesMasters/notesMaster1.xml" Id="Rc41ff9e2183d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b5e5eb7c747df" /><Relationship Type="http://schemas.openxmlformats.org/officeDocument/2006/relationships/notesMaster" Target="/ppt/notesMasters/notesMaster1.xml" Id="R71f4b2307aa24d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957dc91c094915" /><Relationship Type="http://schemas.openxmlformats.org/officeDocument/2006/relationships/notesMaster" Target="/ppt/notesMasters/notesMaster1.xml" Id="R29b932fc39b749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288fc73134679" /><Relationship Type="http://schemas.openxmlformats.org/officeDocument/2006/relationships/notesMaster" Target="/ppt/notesMasters/notesMaster1.xml" Id="R627f197fe0334f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9dc0ccf17d49d6" /><Relationship Type="http://schemas.openxmlformats.org/officeDocument/2006/relationships/notesMaster" Target="/ppt/notesMasters/notesMaster1.xml" Id="R2e31767b91f746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8317c9fb6f4938" /><Relationship Type="http://schemas.openxmlformats.org/officeDocument/2006/relationships/notesMaster" Target="/ppt/notesMasters/notesMaster1.xml" Id="Ra01bd5e83b454f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91abe414f4a51" /><Relationship Type="http://schemas.openxmlformats.org/officeDocument/2006/relationships/notesMaster" Target="/ppt/notesMasters/notesMaster1.xml" Id="R22ed1ed1b1d949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e772ddf1f54ff2" /><Relationship Type="http://schemas.openxmlformats.org/officeDocument/2006/relationships/notesMaster" Target="/ppt/notesMasters/notesMaster1.xml" Id="R4c6768bf012c42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180b8927044f9f" /><Relationship Type="http://schemas.openxmlformats.org/officeDocument/2006/relationships/notesMaster" Target="/ppt/notesMasters/notesMaster1.xml" Id="R0f935faef50a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Назвать продукт образовательным MVP. Сразу обозначить: П-1/К-1 детализированы, ЭЛОУ и ВТ агрегированы. Live-стенд — tutor.kluknulo.ru/login, дедлайн — 11.08.2026.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Проблемы взяты из кейса. Справа показаны не доказанные эффекты, а гипотезы, которые прототип позволяет проверять. Не называть денежный ущерб или сокращение времени без источника 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гипотезы процитированы по материалам кейса.</a:t>
            </a:r>
          </a:p>
          <a:p xmlns:a="http://schemas.openxmlformats.org/drawingml/2006/main">
            <a:r>
              <a:t>Не называть пилотные эффекты подтверждёнными: улучшение навыков и времени реакции ещё требует контрольной группы.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docs/reference/case_presentation_text.md — формулировки трёх гипотез кейса</a:t>
            </a:r>
          </a:p>
          <a:p xmlns:a="http://schemas.openxmlformats.org/drawingml/2006/main">
            <a:r>
              <a:t>- docs/audit/smart_tutor_competition_audit_2026-08-03.md — подтверждённые границы MVP</a:t>
            </a:r>
          </a:p>
          <a:p xmlns:a="http://schemas.openxmlformats.org/drawingml/2006/main">
            <a:r>
              <a:t>- backend/training/reports/evaluation_report.md — метрики RiskLSTM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причинные связи ЭЛОУ → АТ и ВТ → АТ. Модель учебная, коэффициенты не прошли экспертную калибровку по реальной телеметрии. Реализованы 7 сценариев и 8 отказов.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К1. Подчеркнуть серверный RBAC и разные экраны. Автоматический reconnect есть на клиенте, но сохранение активной сессии без второго подключённого клиента не гарантируется.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К3. Левая схема — текущий MVP. Правая часть — цель пилота. PostgreSQL, общий session store, IAM и мониторинг пока не развёрнуты. Kubernetes нужен только если его оправдает нагрузка.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К5. ONNX прогнозирует T/P/L на t+15. Риск гибридный. Test set синтетический: 2 TP, 73 FP, 0 FN; precision 2,67%. Двух positives недостаточно для промышленного вывода. LCS — алгоритм, не нейросеть.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К8. Показать RBAC и статус целостности штатной сессии. Не изменять БД перед жюри. HMAC обнаруживает подмену при проверке, но не шифрует SQLite. MVP не аттестован как КИИ.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К7. В продукте есть ping/pong и телеметрия 1 Гц. Локальный микробенчмарк не доказывает полный UI latency или 50 сессий. Load, restart и restore нужно показать отдельными логами.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К4. NPV 5,66 млн, PI 1,91, DPP 3,71 и IRR 45% — базовый расчётный сценарий. Его предпосылки должен подтвердить владелец процесса. Не представлять цифры как результат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Перейти к live-сценарию elou_salt_breakthrough: инструктор выбирает упражнение, оператор открывает V_ELOU и V-2, затем показывает ScoreCard и аудит. Завершить границами MVP и шагами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67c9053464c8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6c86969194baf" /><Relationship Type="http://schemas.openxmlformats.org/officeDocument/2006/relationships/slideLayout" Target="/ppt/slideLayouts/slideLayout1.xml" Id="Rce583e7df15b45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583e7df15b45f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4f3769454ff7" /><Relationship Type="http://schemas.openxmlformats.org/officeDocument/2006/relationships/image" Target="/ppt/media/image.png" Id="R70a0048b18404a19" /><Relationship Type="http://schemas.openxmlformats.org/officeDocument/2006/relationships/notesSlide" Target="/ppt/notesSlides/notesSlide1.xml" Id="Rab9443a93d0a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45c966c44c84" /><Relationship Type="http://schemas.openxmlformats.org/officeDocument/2006/relationships/image" Target="/ppt/media/image2.png" Id="Raa4a34e72af74173" /><Relationship Type="http://schemas.openxmlformats.org/officeDocument/2006/relationships/image" Target="/ppt/media/image3.png" Id="Rbe272d9b85e14d04" /><Relationship Type="http://schemas.openxmlformats.org/officeDocument/2006/relationships/image" Target="/ppt/media/image4.png" Id="R5a8600658ea945b2" /><Relationship Type="http://schemas.openxmlformats.org/officeDocument/2006/relationships/image" Target="/ppt/media/image5.png" Id="R598e63f45e5e4d42" /><Relationship Type="http://schemas.openxmlformats.org/officeDocument/2006/relationships/image" Target="/ppt/media/image6.png" Id="R7548b7d7f8414649" /><Relationship Type="http://schemas.openxmlformats.org/officeDocument/2006/relationships/image" Target="/ppt/media/image7.png" Id="R11dbb5e28dad4921" /><Relationship Type="http://schemas.openxmlformats.org/officeDocument/2006/relationships/notesSlide" Target="/ppt/notesSlides/notesSlide2.xml" Id="R53ad19d8eb87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9818123bc4e82" /><Relationship Type="http://schemas.openxmlformats.org/officeDocument/2006/relationships/image" Target="/ppt/media/image2.png" Id="R5cb7079b0c344ceb" /><Relationship Type="http://schemas.openxmlformats.org/officeDocument/2006/relationships/image" Target="/ppt/media/image3.png" Id="Rcd9468e851944d5a" /><Relationship Type="http://schemas.openxmlformats.org/officeDocument/2006/relationships/image" Target="/ppt/media/image4.png" Id="Rad593ccd11cf4dfc" /><Relationship Type="http://schemas.openxmlformats.org/officeDocument/2006/relationships/image" Target="/ppt/media/image5.png" Id="R63a0ce4625984fad" /><Relationship Type="http://schemas.openxmlformats.org/officeDocument/2006/relationships/image" Target="/ppt/media/image6.png" Id="R4a25b53cb3c54e7b" /><Relationship Type="http://schemas.openxmlformats.org/officeDocument/2006/relationships/image" Target="/ppt/media/image7.png" Id="R7970af00660243a1" /><Relationship Type="http://schemas.openxmlformats.org/officeDocument/2006/relationships/notesSlide" Target="/ppt/notesSlides/notesSlide3.xml" Id="R63635451273e46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dfa6367ee4b50" /><Relationship Type="http://schemas.openxmlformats.org/officeDocument/2006/relationships/notesSlide" Target="/ppt/notesSlides/notesSlide4.xml" Id="R8982fba02f06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c67be657848fd" /><Relationship Type="http://schemas.openxmlformats.org/officeDocument/2006/relationships/image" Target="/ppt/media/image8.png" Id="R3d55d36250614db3" /><Relationship Type="http://schemas.openxmlformats.org/officeDocument/2006/relationships/image" Target="/ppt/media/image9.png" Id="R6e33e8232c6e4c4c" /><Relationship Type="http://schemas.openxmlformats.org/officeDocument/2006/relationships/image" Target="/ppt/media/image10.png" Id="Rfba42f0165214847" /><Relationship Type="http://schemas.openxmlformats.org/officeDocument/2006/relationships/image" Target="/ppt/media/image11.png" Id="Rb70d162251b84722" /><Relationship Type="http://schemas.openxmlformats.org/officeDocument/2006/relationships/image" Target="/ppt/media/image12.png" Id="Rb254011a41844a8d" /><Relationship Type="http://schemas.openxmlformats.org/officeDocument/2006/relationships/image" Target="/ppt/media/image13.png" Id="Rfb71097f01e5459f" /><Relationship Type="http://schemas.openxmlformats.org/officeDocument/2006/relationships/notesSlide" Target="/ppt/notesSlides/notesSlide5.xml" Id="R182d1dbe76f8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d3aafa5394041" /><Relationship Type="http://schemas.openxmlformats.org/officeDocument/2006/relationships/image" Target="/ppt/media/image14.png" Id="R1f2a2dee3025460d" /><Relationship Type="http://schemas.openxmlformats.org/officeDocument/2006/relationships/notesSlide" Target="/ppt/notesSlides/notesSlide6.xml" Id="Rdb575c44af2245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f70c96b624828" /><Relationship Type="http://schemas.openxmlformats.org/officeDocument/2006/relationships/image" Target="/ppt/media/image15.png" Id="Rf2493daa72ff46fa" /><Relationship Type="http://schemas.openxmlformats.org/officeDocument/2006/relationships/image" Target="/ppt/media/image16.png" Id="R29ae139f83a74aa7" /><Relationship Type="http://schemas.openxmlformats.org/officeDocument/2006/relationships/image" Target="/ppt/media/image17.png" Id="R05436b79c0184ca4" /><Relationship Type="http://schemas.openxmlformats.org/officeDocument/2006/relationships/notesSlide" Target="/ppt/notesSlides/notesSlide7.xml" Id="R91bdad10714246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e543bb4fe40eb" /><Relationship Type="http://schemas.openxmlformats.org/officeDocument/2006/relationships/image" Target="/ppt/media/image18.png" Id="R89c4b27e000441da" /><Relationship Type="http://schemas.openxmlformats.org/officeDocument/2006/relationships/image" Target="/ppt/media/image19.png" Id="R61fd05479dab44a7" /><Relationship Type="http://schemas.openxmlformats.org/officeDocument/2006/relationships/image" Target="/ppt/media/image20.png" Id="R5b6e5859ce194674" /><Relationship Type="http://schemas.openxmlformats.org/officeDocument/2006/relationships/image" Target="/ppt/media/image21.png" Id="R1f38009522684f22" /><Relationship Type="http://schemas.openxmlformats.org/officeDocument/2006/relationships/image" Target="/ppt/media/image22.png" Id="R63ae58c968ea42bf" /><Relationship Type="http://schemas.openxmlformats.org/officeDocument/2006/relationships/image" Target="/ppt/media/image23.png" Id="R060073aa5d7541aa" /><Relationship Type="http://schemas.openxmlformats.org/officeDocument/2006/relationships/notesSlide" Target="/ppt/notesSlides/notesSlide8.xml" Id="R4ecd3f0ea5e44e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386e714bb4af0" /><Relationship Type="http://schemas.openxmlformats.org/officeDocument/2006/relationships/notesSlide" Target="/ppt/notesSlides/notesSlide9.xml" Id="R14564f106da743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5c95602bb4206" /><Relationship Type="http://schemas.openxmlformats.org/officeDocument/2006/relationships/image" Target="/ppt/media/image24.png" Id="R5e5536d89ed24d1a" /><Relationship Type="http://schemas.openxmlformats.org/officeDocument/2006/relationships/image" Target="/ppt/media/image25.png" Id="R7bf8cd41982b4e84" /><Relationship Type="http://schemas.openxmlformats.org/officeDocument/2006/relationships/image" Target="/ppt/media/image26.png" Id="Rafb54ab1913e4046" /><Relationship Type="http://schemas.openxmlformats.org/officeDocument/2006/relationships/notesSlide" Target="/ppt/notesSlides/notesSlide10.xml" Id="R24eda3864b2f4b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0d4dcca744755" /><Relationship Type="http://schemas.openxmlformats.org/officeDocument/2006/relationships/image" Target="/ppt/media/image27.png" Id="Ra8d995deffdf41ee" /><Relationship Type="http://schemas.openxmlformats.org/officeDocument/2006/relationships/image" Target="/ppt/media/image28.png" Id="R9f01bafb616342a7" /><Relationship Type="http://schemas.openxmlformats.org/officeDocument/2006/relationships/image" Target="/ppt/media/image29.png" Id="R0f334dcf29ba44cc" /><Relationship Type="http://schemas.openxmlformats.org/officeDocument/2006/relationships/notesSlide" Target="/ppt/notesSlides/notesSlide11.xml" Id="R5be4f24ab692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BC703D-5190-496F-8E12-4E62D72D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34640"/>
            <a:ext cx="12344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B27586-868E-429A-9DEF-C722DD47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34640"/>
            <a:ext cx="1234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ЭЛОУ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0882DE-67AE-4D49-B05D-A4A61E0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5468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837277-DCBB-4EE7-84D0-6A733CD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697480"/>
            <a:ext cx="914400" cy="123444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25400">
            <a:solidFill>
              <a:srgbClr val="F5A623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048b18404a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0848" y="31546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86F1866-E3F7-4B23-BBA5-78907E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50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П-1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B47B27D-C03D-4B1F-ADEB-21EE0E5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011680"/>
            <a:ext cx="566928" cy="22860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25400">
            <a:solidFill>
              <a:srgbClr val="F5A623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9B2E707-E0C5-4E9F-B91A-76C896A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3434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К-1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B87406B-4570-457D-B97B-F21E216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15468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D9F91D3-BF2F-4DEB-84D8-5F87EC2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2331720"/>
            <a:ext cx="502920" cy="18288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CF72309-10B6-45A6-8189-6DF9459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0624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К-2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4E504A-A3A8-4B72-A0F3-1F27448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296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IT-ЧЕМПИОНАТ НЕФТЯНОЙ ОТРАСЛИ · КЕЙС «КОМПЬЮТЕРНЫЙ ТРЕНАЖЁРНЫЙ КОМПЛЕКС»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D9F519F-E1B3-43BF-A6A2-9B566F5A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69494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ЭЛОУ-АВТ</a:t>
            </a:r>
          </a:p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Tutor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A7E8CF-7296-4B05-9673-7CD2244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6766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Компьютерный тренажёрный комплекс с адаптивным ИИ-тьютором: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физическая модель первичной переработки нефти, SCADA-интерфейс и предиктивный анализ рисков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143FCD3-B66A-4523-AD27-523B731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7315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A8460CA-210F-4AB7-B4C3-B663292A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9494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Команда: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Денис · Андрей · Екатерина · Александра · Саломе · Максим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285E82A-791F-4216-9796-A030837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0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Live-демо: tutor.kluknulo.ru/login · Дедлайн: 11.08.2026</a:t>
            </a:r>
          </a:p>
        </p:txBody>
      </p:sp>
    </p:spTree>
    <p:extLst>
      <p:ext uri="{BB962C8B-B14F-4D97-AF65-F5344CB8AC3E}">
        <p14:creationId xmlns:p14="http://schemas.microsoft.com/office/powerpoint/2010/main" val="2120060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4CA0A6-72B0-4F54-99F4-B98F7F6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Проблема: цена ошибки оператора слишком высока для обучения «в бою»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2A83F3-EC82-4E73-8C67-7B6A813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91F17D-F2AE-49BF-A7A1-FFC8B96A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184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a34e72af7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1775399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6849FDD-7DF7-4E09-987B-6D0F894F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8988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Высокая цена ошибки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BB3DA9F-226B-40EC-B5EA-CF1ED21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5648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Ошибки при пуске и останове создают риск повреждения оборудования, простоя и нарушения технологического режима.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F8F2C81-CDD1-4EB6-AA6E-2BED97F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08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A5F10A-FCA1-4AE6-AFA1-9FAA06C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91256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72d9b85e14d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3348167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0D0070-C2BA-4155-BB57-53EA601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62656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Дефицит опыта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BDA154B-270F-409D-ACDC-2620647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28416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Молодых операторов всё больше, а опытные не успевают передать «инженерную чуйку». Учиться на реальной установке нельзя.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89D31C7-BC1A-4A6C-B27B-5DA4A24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9976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19F3131-4A04-4F1A-BC98-B1E537F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6402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600658ea945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4920935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A93559D0-41D2-4B29-91CF-5603A3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542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Сложность процесса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A3E20047-DDC3-4A14-ACDF-2922B3A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1184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Нештатные ситуации на ЭЛОУ-АВТ развиваются за минуты и требуют доведённых до автоматизма действий.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93FCBD3-A10D-4915-8A60-078DA6E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34440"/>
            <a:ext cx="5239512" cy="502920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D61FD1B-A645-4865-B873-654AD81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63040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Гипотезы кейса — и как их подтверждает прототип</a:t>
            </a: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e63f45e5e4d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232257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EF4B2D21-39E6-42A0-96B4-9FBCBA1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 создать КТК для обучения без рисков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FBE682E-1A4C-4EA9-8282-D082A50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834640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Работающий симулятор с физической моделью и SCADA-интерфейсом, аварии отрабатываются виртуально</a:t>
            </a:r>
          </a:p>
        </p:txBody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8b7d7f841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362102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C3B375E-E91B-4591-B20F-18F378F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84448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Тренажёр позволяет измерять действия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F37D548-E99C-4177-B0CB-F3430EF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33088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Система записывает ход сценария и формирует воспроизводимый ScoreCard для разбора с инструктором</a:t>
            </a:r>
          </a:p>
        </p:txBody>
      </p:sp>
      <p:pic>
        <p:nvPicPr>
          <p:cNvPr id="5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bb5e28dad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49194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3CF31D74-B0D1-4FAA-BE12-AC50DD7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82896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 поддерживает прогноз и разбор ошибок</a:t>
            </a: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8FAF77E8-9C67-477D-8636-9EE67C99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31536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ONNX прогнозирует три параметра на горизонт 15 секунд; эффект обучения предстоит измерить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883921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4CA0A6-72B0-4F54-99F4-B98F7F6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Три гипотезы кейса: что уже подтверждает прототип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2A83F3-EC82-4E73-8C67-7B6A813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91F17D-F2AE-49BF-A7A1-FFC8B96A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184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7079b0c34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1775399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6849FDD-7DF7-4E09-987B-6D0F894F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8988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1. Безопасная тренировка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BB3DA9F-226B-40EC-B5EA-CF1ED21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5648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КТК позволяет отрабатывать нештатные ситуации без риска остановки реального производственного объекта.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F8F2C81-CDD1-4EB6-AA6E-2BED97F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08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A5F10A-FCA1-4AE6-AFA1-9FAA06C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91256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468e851944d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3348167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0D0070-C2BA-4155-BB57-53EA601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62656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2. Навык и реакция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BDA154B-270F-409D-ACDC-2620647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28416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Тренировка должна улучшать действия персонала и сокращать время реакции на изменения технологического процесса.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89D31C7-BC1A-4A6C-B27B-5DA4A24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9976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19F3131-4A04-4F1A-BC98-B1E537F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6402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93ccd11cf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4920935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A93559D0-41D2-4B29-91CF-5603A3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542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3. ИИ-тьютор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A3E20047-DDC3-4A14-ACDF-2922B3A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1184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ИИ должен ускорять и делать безопаснее обучение через анализ ошибок, адаптивные сценарии и персональные рекомендации.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93FCBD3-A10D-4915-8A60-078DA6E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34440"/>
            <a:ext cx="5239512" cy="502920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D61FD1B-A645-4865-B873-654AD81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63040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Статус доказательств: MVP → пилот</a:t>
            </a: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0ce4625984f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232257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EF4B2D21-39E6-42A0-96B4-9FBCBA1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Подтверждено в MVP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FBE682E-1A4C-4EA9-8282-D082A50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834640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7 сценариев, 8 отказов, изолированный симулятор, роли оператора и инструктора; реальной установкой система не управляет.</a:t>
            </a:r>
          </a:p>
        </p:txBody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5b53cb3c54e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362102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C3B375E-E91B-4591-B20F-18F378F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84448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Измеряется, нужен пилот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F37D548-E99C-4177-B0CB-F3430EF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33088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SessionTimeline и ScoreCard фиксируют порядок, ошибки и время действий. Улучшение навыков и реакции проверим A/B-замером на пилоте.</a:t>
            </a:r>
          </a:p>
        </p:txBody>
      </p:sp>
      <p:pic>
        <p:nvPicPr>
          <p:cNvPr id="5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0af006602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49194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3CF31D74-B0D1-4FAA-BE12-AC50DD7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82896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Подтверждено технически</a:t>
            </a: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8FAF77E8-9C67-477D-8636-9EE67C99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31536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ONNX-LSTM прогнозирует 3 параметра на 15 с; анализ ошибок и рекомендации работают. Качество: recall 100%, precision 2,7% при 2 позитивных случаях.</a:t>
            </a:r>
          </a:p>
        </p:txBody>
      </p:sp>
    </p:spTree>
    <p:extLst>
      <p:ext uri="{BB962C8B-B14F-4D97-AF65-F5344CB8AC3E}">
        <p14:creationId xmlns:p14="http://schemas.microsoft.com/office/powerpoint/2010/main" val="883921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9CACE7-CC99-4DD2-B8A0-F8C1880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Решение: сквозной учебный маршрут ЭЛОУ → АТ → ВТ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109399-B7F9-4FF2-ADAC-CD363A9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Конкурсный MVP: наиболее детально проработана динамическая модель атмосферного участка П-1/К-1; блоки ЭЛОУ и ВТ представлены агрегированными моделями и связаны с АТ причинно-следственными зависимостями.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17BDE0-5BE1-4F3E-ADEF-0E043AB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10896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F59F1B-A462-41AB-B0F8-B8C78C5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ЭЛОУ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AA8CE0-9FAB-41A9-899D-6477914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996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9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4E19EE-00B1-451D-91B7-7854951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996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агрегированно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1682D-73FE-4A99-9898-1142340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2697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Электрообессоливание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Датчики: соли Sal-1, вода W-1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Клапан деэмульгатора V-ELOU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Дефект: срыв обессоливания →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ограничение режима АТ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61D8D88-5B93-48CD-9511-1E9A68D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953512"/>
            <a:ext cx="502920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B8FC7E7-784E-4190-9A22-BED1EC1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600200"/>
            <a:ext cx="356616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F1722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9AA7B8">
                <a:alpha val="3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425F95-A6D3-4C39-9A75-51F5C73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810512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АТ · П-1 / К-1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3BB0FDA-40FA-4AF0-BC9A-FF3F7BBC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4708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93EC69-3602-4F7D-B8A0-597FD60C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4708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F1722"/>
                </a:solidFill>
                <a:latin typeface="Calibri"/>
                <a:ea typeface="Calibri"/>
                <a:cs typeface="Calibri"/>
              </a:rPr>
              <a:t>детально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A1E4779-49FC-4AA2-83B9-98139ED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286000"/>
            <a:ext cx="31546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Атмосферный блок — интерактивная динамика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Печь П-1: нагрев, охлаждение сырьём, прогар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Колонна К-1: давление, уровень куба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Клапаны V-1 / V-2 / V-3, уставка, ESD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Блокировки ПАЗ, 8 инжектируемых отказов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7D8AD0-8C72-4B7C-AC20-915A928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953512"/>
            <a:ext cx="502920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3048A84-77B4-435C-B771-75FD490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28800"/>
            <a:ext cx="310896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CA92273-3DD9-4907-8044-0B882E4D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933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ВТ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19E78E4-80AD-4D89-B4C6-F23AE06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2996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9B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E790DB-5F26-41F5-BB21-0FD8E69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2996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агрегированно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664C82B-8B6E-403F-AEF8-DA511F3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514600"/>
            <a:ext cx="2697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Вакуумный блок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К-2: вакуум P-vac, куб T-2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Пар на эжекторы ПЭУ (V-VT)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Дефект: срыв вакуума →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рост уровня куба К-1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80601E1-97FA-4042-AA0C-46256B0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560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Учебный контур: действие оператора → отклик физики → тревога → подсказка ИИ → оценка и разбор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F106CE9-CAD2-4899-A204-574BA20A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78EEB9E-5564-42A0-ADCE-E15C938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A094B2D-A3CF-4B77-8798-01F36E7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учебных сценариев + GUI-конструктор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4AFB314-61F4-48BA-8492-567A5A3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4FC92D6-0062-461A-99CE-50C1D801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4C6CFEE-F845-490A-A05A-A1C95B5B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инжектируемых отказов оборудования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089D82A-0C54-4469-B85F-49471B3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64F2D2-1AF8-4624-AD61-006E8DBA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2 роли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1A5DE98-A96A-4DA1-8266-06BBBAE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оператор и инструктор, JWT/RBAC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3A05AEF-BFD9-4D1F-95B6-522CB5E2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73FCC7-F252-47D6-BDA2-6E1A92E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862AE01-0CEB-4C86-A17F-1DC937A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backend-тестов + 54 subtests</a:t>
            </a:r>
          </a:p>
        </p:txBody>
      </p:sp>
    </p:spTree>
    <p:extLst>
      <p:ext uri="{BB962C8B-B14F-4D97-AF65-F5344CB8AC3E}">
        <p14:creationId xmlns:p14="http://schemas.microsoft.com/office/powerpoint/2010/main" val="1326108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D82E54-A9B5-431A-87BA-9E543CB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Техническая реализация: разделение ролей и экранов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FF1CA33-1B05-4850-9C7E-F02FC0B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57784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3814B1-EEB0-425D-95C7-18494F5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5d3625061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5544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D361A6B-176C-4547-A969-967D8E5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481328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АРМ Оператора (SCADA)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99A7163-9948-48EF-B96F-7FC6156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50292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Мнемосхема всей установки: печь П-1, колонны К-1/К-2, электродегидратор, 7 датчиков, анимация потоков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Управление: клапаны V-1/V-2/V-3, уставка печи 100–340 °C, аварийный останов ESD, звонок диспетчеру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Живой журнал событий с фильтрами и посекундной меткой времени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ИИ-ассистент: риск аварии, упреждающие подсказки, чат по регламенту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93C2319-513D-4E60-A347-9E3DB43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188720"/>
            <a:ext cx="5285232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99FB92-CD7D-4118-946A-F1C388B0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F0A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3e8232c6e4c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15544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FC4F61C-FF5C-45F7-8143-5859F1A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81328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АРМ Инструктора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9DBCE23-DC54-4146-A7D1-69F97AA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40280"/>
            <a:ext cx="475488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Запуск сценариев (пуск, останов, авария) и режимов Обучение/Экзамен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Инъекция отказов: насос, прогар змеевика, клапан, электроэнергия, воздух КИПиА, пар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Пауза, снапшоты состояния, параллельные сессии операторов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GUI-конструктор сценариев: шаги, эталонная последовательность, импорт JSON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Таблица сессий с оценками и контролем целостности записей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B08D42C-613C-4D06-A1C0-55A7F6E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BDC08F5-A158-4ECC-A3D5-0FA2A911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42f0165214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548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0D36F98-CC26-4003-8C8E-8484CDB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Таймер сессии и лимит времени</a:t>
            </a: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DAF8EA6-C71A-4787-9477-B14AAA5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5B832E5-5ED8-4779-8EAE-16A0131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d162251b8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20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04C2FD69-5CE4-4ED2-B83D-919D94D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Журнал + аудит действий в БД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7D574EA2-14F9-4209-BC4F-F1E5FDE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3F9BA4D4-72AE-4C0A-AE53-3B6794D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4011a41844a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8692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9D05503-7326-4D84-9ACF-1C7519D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Замер задержки WS (ping в UI)</a:t>
            </a:r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B1CE4B46-E95D-420E-B9EA-62CF766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EBE9AFB-990D-4FFE-98AF-FDA6255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6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1097f01e5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0764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5C90568B-F69E-4B56-9981-893818E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Автоматический реконнект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469854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381593-8AA2-474F-A268-3F6AC6D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ИТ-архитектура: модульный MVP и границы масштабирования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3334017-E567-435F-9801-08D18C42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852160" cy="5074920"/>
          </a:xfrm>
          <a:prstGeom xmlns:a="http://schemas.openxmlformats.org/drawingml/2006/main" prst="roundRect">
            <a:avLst>
              <a:gd name="adj" fmla="val 1441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F73E4E-576C-4037-AB77-2C7B3FA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23774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819EB7-5D68-496E-B7F9-65A14F6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Оператора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19 + TypeScript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9E76707-C7D9-4F26-AC56-6D7C8EC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54480"/>
            <a:ext cx="23774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87045A-1814-4D39-9FA7-46B2A24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5448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Инструктора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19 + Ant Design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C91126D-BDBE-4C52-BCF1-4F978F6A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31720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C87F0A"/>
            </a:solidFill>
            <a:prstDash val="solid"/>
            <a:headEnd type="triangle"/>
            <a:tailEnd type="triangl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38411A-E0F9-4969-BD62-CCC760A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9572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87F0A"/>
                </a:solidFill>
                <a:latin typeface="Calibri"/>
                <a:ea typeface="Calibri"/>
                <a:cs typeface="Calibri"/>
              </a:rPr>
              <a:t>WebSocket 1 Гц + REST/JWT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ADB079-937A-4F1A-93BE-7136B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21208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B17650-714C-4F8B-BB5F-D160BD5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212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· сессии в памяти · RBAC · HMAC-SHA256 и связанный аудит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05C8864-820C-463E-93A3-A5FC088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B0D0D9D-07F8-4BC5-B6C5-C460F2D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7F0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D33F3E-8EA4-44D1-8CDB-23E8AB7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Симулятор физики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NumPy, шаг 1 с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C4D0F02-5192-455B-AACE-5E10C0B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BC6DE46-A582-4372-A624-5D39134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4C2C3C-E02A-4131-B88B-C752029F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ИИ-ядро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LSTM (ONNX) + LCS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35AD898-83B1-402A-8F62-43F45550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B92131C-D86C-49B6-9E60-9990F76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0EEFFB-D595-40A7-ABCA-B5B432D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SQLite → PostgreSQL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целостность записей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a2dee302546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680" y="50749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166AA7C-C884-4AED-9419-51EAAA7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Многостадийная Docker-сборка: фронтенд + бэкенд + модели в одном образе, запуск одной командой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534EC79-148A-4251-870E-BBA244C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Open-source стек; лицензии и SBOM проверяются до пилота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4A07B7E-40FC-48D5-9B14-77AA08A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65960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FastAPI — REST/WebSocket и OpenAPI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ONNX Runtime — инференс LSTM на CPU без PyTorch в runtime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+ TypeScript — типизация интерфейса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SQLite и in-memory сессии достаточны для MVP; нагрузка и отказоустойчивость ещё не подтверждены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BD7E60B-4391-4332-9E67-FA167C7F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97680"/>
            <a:ext cx="4965192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BCE639A-9AE2-4107-A877-81F3BA6B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8056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Целевая архитектура пилота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4F01E0C-3554-456D-9706-3495BF5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92040"/>
            <a:ext cx="45262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PostgreSQL, общий session store, IAM, мониторинг и backup/restore. Kubernetes и отдельный ИИ-узел — только если их обоснуют нагрузочные испытания.</a:t>
            </a:r>
          </a:p>
        </p:txBody>
      </p:sp>
    </p:spTree>
    <p:extLst>
      <p:ext uri="{BB962C8B-B14F-4D97-AF65-F5344CB8AC3E}">
        <p14:creationId xmlns:p14="http://schemas.microsoft.com/office/powerpoint/2010/main" val="128404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BF56C9-A0F4-449B-A835-83502FC6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ИИ-тьютор: от фиксации действий до прогноза риска за 15 секунд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8D0282-2E0D-489A-88A0-C17F6F44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798C82-5840-4B9A-897E-4D9A5DB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E5909B-E66B-42A7-8284-CB9323C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3DD291-40FB-47FA-9B45-FD83DCD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34416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Фиксация действий и сравнение с эталоном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87910C-D58D-4A27-A5DF-738EB3E4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Каждое действие — в журнал и аудит БД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89D7E3-7B00-46A3-B31B-CF126A8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6C6A83-7A6B-405A-AD4C-21A1189B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5973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F17010-29A1-4B15-A070-ABE3850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59736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D34CBD-86AD-4BC1-8357-5D8911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68296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Классификация типовых ошибок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780F2A-5F6D-49F6-8FD6-670BB847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15768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5 семантических правил: сухой ход, горячий останов, перелив…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05D6F35-B390-4140-A699-4582532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82696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DF3E3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4118910-EB87-4C78-BE77-D195EF7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83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F0A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913E14-5C18-4443-8B20-21192C3E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83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1BE47F5-2A8C-4E32-9707-53D3AC5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392424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Локализация ошибок во времени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86366B9-5882-454B-A6C6-56A36D1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39896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87F0A"/>
                </a:solidFill>
                <a:latin typeface="Calibri"/>
                <a:ea typeface="Calibri"/>
                <a:cs typeface="Calibri"/>
              </a:rPr>
              <a:t>Привязка нарушения к моменту и шагу сценария  ·  в работе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81D8CA-09DB-483E-B24B-B0975C17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824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9CC7B6E-BCE6-43CF-AAF3-ADE1DFF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079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18AEC4A-FEEA-4D67-B717-74ECB4C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07992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503CE0A-33BD-4A3F-BE08-B4B5BCA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416552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Интерпретированная обратная связь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90C1018-5392-4CE9-9C0B-4DC6B95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Каждая ошибка — со ссылкой на пункт техрегламента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08F24E1-CD33-4C60-BEF7-7BE715E8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30952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3BEFAE-72CB-405D-BC5C-AFCF5BC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06333B-5563-4D11-A2B5-142F4E9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16D81C-BC06-4527-B66D-30172EA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4068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Адаптивные сценарии + прогноз до ошибки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2B008B-C7B4-4EAC-861C-7B98B91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788152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Следующий сценарий из реестра 7 упражнений + LSTM-упреждение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B322B3F-B889-4B37-850F-C9BDB68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4440"/>
            <a:ext cx="478231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F98598A-7802-46A3-B465-D4453912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1732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Честная валидация RiskLSTM (тест 10 330 окон)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3E8E1F-EC5D-45F4-8E1B-F7709C0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1463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 с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A95EB4-F761-4E44-96AC-D540408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604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упреждение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(Lead Time)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E4E81B8-C57B-4A9B-B017-42BC1FF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1554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7AE60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25DAC54-5D9D-461F-B5C5-ED93915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604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положительных окна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найдены в synthetic test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10C1A9E-81F9-4F13-A558-879AE5D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1828800"/>
            <a:ext cx="1188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2.7%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C60E3C7-1FE3-4DF0-895A-E91D190C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60604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Precision — цель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следующей итерации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FFF7D63-B5D6-473F-9F78-EC4649A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6120"/>
            <a:ext cx="43891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Политика MVP: «лучше ложная тревога, чем пропуск аварии». Модель обучена на синтетике физсимулятора; калибровка на архивной телеметрии — этап пилота.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52A682B-849D-4A74-9BE1-569482B6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8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93daa72ff46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423842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D97EC409-C756-43F5-B39B-7C9843B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78224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LSTM 2×64 (ONNX Runtime) — прогноз T/P/L на t+15 с, при сбое — детерминированный polyfit-fallback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D9158F2-FE6A-43EC-8D70-79682D59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e139f83a7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498823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DBD07CA-FDA7-432B-9770-1B4C33C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828032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LCS-выравнивание последовательности действий с эталоном — оценка порядка операций независимо от темпа</a:t>
            </a:r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5F388D4C-DD8A-4839-A8E1-4FD52A0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441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9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6b79c018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573804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D1103C6F-84E8-4255-ADAB-BFEC777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57784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TF-IDF-поиск по базе знаний + фильтры prompt injection; нормативные цитаты требуют ручной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55256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CC6BD3-7FF9-4919-B132-1D56125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Информационная безопасность: доступ и контроль целостности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AA30F4E-C379-47C8-925C-B728052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FA8C60-338E-45FA-9337-F323258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4b27e0004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5CD7FC-C2B0-429F-9CDE-0562B5B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Аутентификация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E8432B-A4FD-4E02-88D4-FFADA9A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JWT HS256 (2 ч) + bcrypt-хэши паролей, fail-to-ban после 5 попыток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E0E79C6-45D6-4E0E-B319-5654CAD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CD6296-F28B-494D-99C6-9881E4C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d05479dab44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646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1E9F7A2-6F4B-494E-8976-63CE81A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RBAC на сервере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68D931E-3E83-4AC0-AFC8-F4CD0D2A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Команды инструктора блокируются для оператора на уровне WebSocket-обработчика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29CB15B-BD5F-4AC6-B247-1CA8D44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269B57F-8B53-4C01-B788-9C85097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e5859ce1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6838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56C85ABF-ECD9-4498-8A99-CC4D95C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Целостность HMAC-SHA256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C64602A-895D-4C9B-B4F4-AED0AACD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HMAC и связанный audit log обнаруживают изменение сохранённых результатов при проверке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41B0FC6B-EA57-44CB-8B1E-2F84368F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6C9388A0-965B-4812-A2C0-5B95B7C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8009522684f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88CA2AD-4ADB-4E57-9737-AE43C4D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Полный аудит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8FBABAA-67B6-47A2-A3EC-1FD60AC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~20 типов событий: вход, клапаны, дефекты, ESD, нарушения целостности</a:t>
            </a:r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FECAFF01-AAED-4F99-AAA2-60DEA3F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89DBAEE0-6A2F-427C-B63A-BC8140F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e58c968ea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646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FE1B4B2A-43C4-4DA5-970A-F48DBC1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Защита от перегрузки</a:t>
            </a: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B14336D-3E8E-44A1-9E9A-007BF76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Rate-limit 30 сообщений/с на сокет; клиентский ping/pong и автоматический reconnect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20E30CB8-2D01-490B-BFD2-4D7516DD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E3AA3A4-18ED-4544-BB97-C23B680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073aa5d75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6838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125E6DF5-A390-4422-9E5C-D5CC058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Безопасность ИИ</a:t>
            </a:r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F263A66E-D041-4F8B-AABC-9F19304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np.clip-фильтр состязательных входов, модели read-only, детерминированный fallback</a:t>
            </a:r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E5D5BCFE-EB8B-466F-9AB8-E6F7E5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E85758D1-417C-4A6A-8273-A853F0E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Модель угроз MVP: НСД к функциям инструктора · подмена результатов · перегрузка WebSocket. Прототип не аттестован как КИИ; формальная классификация нужна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229921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36607F-4608-47FF-A024-72341231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Инфраструктура: лёгкий клиент, изолируемые вычисления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7A5A99-A6E9-412F-AC6C-532301D8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3A4D98-F1A8-4B3E-841C-53B4F4B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Требования к рабочим местам и серверу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2E2C3D-D88F-47E3-BB6E-158641A5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502920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— ПК с Chromium, 2 ядра, 4 ГБ ОЗУ, 1920×1080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Локально: p95 шага симулятора &lt;0,01 мс, ONNX &lt;1 мс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Полный отклик UI и 50 сессий ещё не проверены нагрузочным тестом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8DA7D2-0D70-4A10-8373-1C31D5C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48640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2B8E0C-41E9-4DE3-A072-713FFFA2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Контроль задержек — встроен в продукт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0AEBA6-63A5-4E5B-A972-5F9717E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5029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Ping-pong замер каждые 3 с, значение видно оператору и инструктору прямо в интерфейсе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Телеметрия 1 Гц по WebSocket, мгновенный отклик на команды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Автоматический реконнект при обрыве связи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0F7ED5-AF84-4BCF-B140-839570C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34440"/>
            <a:ext cx="5285232" cy="5074920"/>
          </a:xfrm>
          <a:prstGeom xmlns:a="http://schemas.openxmlformats.org/drawingml/2006/main" prst="roundRect">
            <a:avLst>
              <a:gd name="adj" fmla="val 1441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77B8094-F01A-4C6D-83FB-0DFA67EB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Честное разделение: MVP сегодня → промышленный контур завтра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BDB4B3-643C-498D-8F67-73EE69D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Docker-образ, SQLite, сессии в памяти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9D668F1-5DF4-4BC1-BB9A-23A1EDF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748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Kubernetes: контейнер-на-сессию, PostgreSQL Master-Slave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11D68C-01DF-4FB1-9B52-FA0366EC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Журнал и результаты — в БД с контролем целостности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28B881-803E-405D-A719-35203B85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33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WAL-бэкапы каждые 15 мин, PITR-восстановление, AES-256 архив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14411E-3A39-4B9F-9536-A6BCD40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Единый сервер приложений и ИИ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9A4857-709A-49EB-8B30-116ABF4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916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CPU по умолчанию; GPU — только при росте модели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56597E3-8E92-4890-B225-0701617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Ручной контроль состояния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55A9D0-8AD3-4EBB-967B-ED2E1F4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1500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Мониторинг Prometheus + Grafana, алерты</a:t>
            </a:r>
          </a:p>
        </p:txBody>
      </p:sp>
    </p:spTree>
    <p:extLst>
      <p:ext uri="{BB962C8B-B14F-4D97-AF65-F5344CB8AC3E}">
        <p14:creationId xmlns:p14="http://schemas.microsoft.com/office/powerpoint/2010/main" val="244787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53CCA4-678F-4B28-9D39-FB24AB8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Экономика: расчётная гипотеза для пилота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9DCCCD7-1DAF-4EAA-B8BC-C3DAC91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C7B912-0DF4-4D69-B4A1-5A896C3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5.66 млн ₽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D7A895-B540-4130-8F3D-C452201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NPV — чистая приведённая стоимость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8B59E44-524B-4907-85A8-915E498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BCC8BE-9360-4620-A272-9A38BB8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1.91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18F6C2-DEEE-4E79-A3BB-E3861D6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PI — индекс доходности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61BE76-49A1-4572-B4B7-7A42F30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2B16553-FF5F-4E56-9C0B-5324C5B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3.71 года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D94E84-7FDA-4773-95AC-16C9F351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DPP — срок окупаемости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EAF7F1-B821-4537-83FC-6830613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F8BC3B-78F2-46F5-B222-1860F26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20698F-7482-4173-BEF0-ABD3ABB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IRR при барьерной ставке 14%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121457-DBE5-4504-AC49-D81E1189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Базовый сценарий (5 лет, TCO 10,83 млн ₽)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2799E6-4832-46AC-9F24-4D46382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6692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Снижение вероятности аварийного останова с 0.15 до 0.02 в год — предотвращённый ущерб 7.4 млн ₽/год (ущерб останова ~56.9 млн ₽)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Аттестация: 16 ч работы инструктора → 1 ч автоматической оценки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Ввод оператора в строй: 320 → 240 часов наставничества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Корзина «Безопасная эксплуатация» — приоритетное финансирование HSE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3B5AB7-B315-43DF-96BE-B5A7DB22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80360"/>
            <a:ext cx="5148072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8F2095-E9F9-4A74-9587-D9847D2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63240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Проверяемое отличие MVP</a:t>
            </a:r>
          </a:p>
        </p:txBody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536d89ed2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359359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F894789-2EC2-40A7-B75B-E9A524B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566160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Web-интерфейс, две роли и Docker Compose — единый учебный контур</a:t>
            </a:r>
          </a:p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8cd41982b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A13E234-929B-4604-A3A9-2137D3D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462272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ONNX-прогноз параметров на t+15 с работает на CPU; качество на реальных данных не проверено</a:t>
            </a:r>
          </a:p>
        </p:txBody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54ab1913e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538581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DF6165A6-1755-4DE4-92C0-1570B0F6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358384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LCS и технологические правила формируют ScoreCard; учебный эффект измеряется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189385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E7644D-3460-4D47-BDCE-77D3D5A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показать вживую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73FCA3-8066-491F-9860-0D458DC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Live-сценарий: инструктор выбирает упражнение — оператор парирует отклонение — система показывает прогноз, журнал и ScoreCard.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CBE8F1-CE1F-4104-80F3-4471062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D8F971-25F6-4F19-8086-C079F2D5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995deffdf41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8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943F82B-E509-4238-8174-46109EB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3E10A8A-27B1-4A77-98C0-2043543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ЭЛОУ–АТ–ВТ, 7 сценариев, 8 отказов, ScoreCard, ONNX, HMAC-аудит, 156 backend-тестов + 54 subtests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F950EF-CCAE-4BEF-9508-34CC3ED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00131EA-99D3-4633-8AA5-16B5A5E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1bafb616342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40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FB766F0-8A04-4413-A46F-80D885B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Границы MVP — зафиксированы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E53D272-616A-43B0-94E8-4DC2FA2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Детальная динамика — атмосферный блок П-1/К-1; ЭЛОУ и ВТ — агрегированные модели. Тренажёр не является средством допуска персонала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E3C1077-6A64-4B1E-917E-3E295FAF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3F013E3-2080-4723-9DAF-FCD650A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34dcf29ba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272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47987CD-6B30-41EE-AE44-A1EE98A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Дорожная карта пилота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2C493AF-174B-4231-83ED-55B268B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Технологическая проверка → реальная обезличенная телеметрия → model/data card → load и restore tests → решение об архитектуре пилота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C73FCC9-7237-4510-AC2A-B285F97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Спасибо. Показываем работающий MVP и честно отделяем его от следующего этапа пилота.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4179E0E-9C41-4BE2-826A-486BDE9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6364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tutor.kluknulo.ru/login · operator_1 / instructor_1 · дедлайн 11.08.2026</a:t>
            </a:r>
          </a:p>
        </p:txBody>
      </p:sp>
    </p:spTree>
    <p:extLst>
      <p:ext uri="{BB962C8B-B14F-4D97-AF65-F5344CB8AC3E}">
        <p14:creationId xmlns:p14="http://schemas.microsoft.com/office/powerpoint/2010/main" val="21130068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2026-08-04T18:22:49.3290000Z</dcterms:created>
  <dcterms:modified xsi:type="dcterms:W3CDTF">2026-08-04T18:22:49.3370000Z</dcterms:modified>
</coreProperties>
</file>