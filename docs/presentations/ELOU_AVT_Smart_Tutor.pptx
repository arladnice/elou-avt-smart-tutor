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0:00-0:35. Представление команды. Ключевая мысль: мы построили работающий тренажёр установки первичной переработки нефти с ИИ-тьютором. Сразу обозначить границы: конкурсный MVP, детально проработан атмосферный блок, ЭЛОУ и ВТ — агрегированно. Это честная позиция, которую эксперты просили озвучить явно.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проблемы из кейса: цена ошибки, дефицит опыта у молодых операторов, скорость развития нештатных ситуаций. Справа — три гипотезы кейса и чем именно прототип их подтверждает. Не задерживаться: 40-50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по замечанию экспертов о фрагментированности. Показываем связанный объект целиком: ЭЛОУ влияет на АТ (обводнённость → рост давления в К-1), ВТ влияет на АТ (срыв вакуума → рост уровня куба). Уровни детализации промаркированы честно — это не попытка выдать агрегированную модель за физику. Если спросят про глубину модели АТ: разностные уравнения теплового и материального баланса с шагом 1 с, коэффициенты откалиброваны по диапазонам техрегламента.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1 — вес 0.25, самый весомый. Подчеркнуть: разделение ролей не визуальное, а серверное — команды инструктора блокируются на уровне WebSocket-обработчика по роли из JWT. Нижний ряд — те самые дополнительные возможности из критерия на 5 баллов: журнал, отслеживание времени, останов/пуск, производительность.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3. Главное: чётко разделяем реализованный MVP (левая диаграмма) и целевую промышленную архитектуру (тёмная карточка). Модули разделены по границам ответственности, поэтому симулятор, ИИ-ядро и БД выносятся в отдельные сервисы без перепроектирования. Выбор стека обоснован тремя рассмотренными вариантами — детали в solution_architecture.md.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5 — ступенчатая шкала жюри. Идём по ступеням снизу вверх, честно отмечая ступень 3 как «в работе». Про метрики говорить самим, не дожидаясь вопроса: Recall 100% при упреждении 15 секунд — модель не пропускает развивающиеся аварии; низкая precision — следствие редкости аварийных окон и осознанной политики «лучше ложная тревога». Обучение на синтетике физсимулятора, промышленную валидацию не заявляем.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8. Сильный демонстрационный ход: показать вживую подмену оценки в БД SQL-запросом — интерфейс инструктора мгновенно покажет «Нарушена!» вместо OK. Безопасность ИИ — редкое требование высшего уровня шкалы, большинство команд его пропустит.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7. Акцент на том, что контроль задержек не обещание в документе, а работающая функция — пинг виден в интерфейсе. Правая колонка честно разделяет то, что работает сейчас, и то, что спроектировано для промышленного контура. Цифра 50 сессий — расчётная, нагрузочное тестирование не проводили, так и говорить.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 4. Основной вклад в NPV — не экономия на обучении, а снижение стоимости риска аварийного останова. Дисконтирование по гибридной ставке Газпромнефти: 10% для исторических периодов, 14% для плановых. Проект попадает в приоритетную корзину «Безопасная эксплуатация», где финансирование не зависит только от окупаемости.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Финал. Переход к живой демонстрации. Формула ответа на вопрос о зрелости: «Мы не выдаём конкурсный MVP за готовый промышленный цифровой двойник. Показываем целостный учебный маршрут ЭЛОУ-АТ-ВТ, наиболее детально проработан самый рискованный атмосферный участок. Границы модели зафиксированы, следующий этап — валидация технологом и калибровка на архивной телеметрии». Это демонстрирует управление риском, а не оправдание.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2834640"/>
            <a:ext cx="1234440" cy="1005840"/>
          </a:xfrm>
          <a:prstGeom prst="roundRect">
            <a:avLst>
              <a:gd name="adj" fmla="val 5455"/>
            </a:avLst>
          </a:prstGeom>
          <a:solidFill>
            <a:srgbClr val="1B2534"/>
          </a:solidFill>
          <a:ln w="19050">
            <a:solidFill>
              <a:srgbClr val="2C6E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83464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ЭЛОУ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47888" y="3154680"/>
            <a:ext cx="457200" cy="365760"/>
          </a:xfrm>
          <a:prstGeom prst="rightArrow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2697480"/>
            <a:ext cx="914400" cy="1234440"/>
          </a:xfrm>
          <a:prstGeom prst="trapezoid">
            <a:avLst/>
          </a:prstGeom>
          <a:solidFill>
            <a:srgbClr val="1B2534"/>
          </a:solidFill>
          <a:ln w="25400">
            <a:solidFill>
              <a:srgbClr val="F5A6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48" y="315468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778240" y="3950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П-1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875520" y="2011680"/>
            <a:ext cx="566928" cy="2286000"/>
          </a:xfrm>
          <a:prstGeom prst="roundRect">
            <a:avLst>
              <a:gd name="adj" fmla="val 16129"/>
            </a:avLst>
          </a:prstGeom>
          <a:solidFill>
            <a:srgbClr val="1B2534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84080" y="4343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К-1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561320" y="3154680"/>
            <a:ext cx="457200" cy="365760"/>
          </a:xfrm>
          <a:prstGeom prst="rightArrow">
            <a:avLst/>
          </a:prstGeom>
          <a:solidFill>
            <a:srgbClr val="2C6E9B"/>
          </a:solidFill>
          <a:ln/>
        </p:spPr>
      </p:sp>
      <p:sp>
        <p:nvSpPr>
          <p:cNvPr id="11" name="Shape 8"/>
          <p:cNvSpPr/>
          <p:nvPr/>
        </p:nvSpPr>
        <p:spPr>
          <a:xfrm>
            <a:off x="11082528" y="2331720"/>
            <a:ext cx="502920" cy="1828800"/>
          </a:xfrm>
          <a:prstGeom prst="roundRect">
            <a:avLst>
              <a:gd name="adj" fmla="val 18182"/>
            </a:avLst>
          </a:prstGeom>
          <a:solidFill>
            <a:srgbClr val="1B2534"/>
          </a:solidFill>
          <a:ln w="19050">
            <a:solidFill>
              <a:srgbClr val="2C6E9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0" y="4206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К-2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8229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IT-ЧЕМПИОНАТ НЕФТЯНОЙ ОТРАСЛИ · КЕЙС «КОМПЬЮТЕРНЫЙ ТРЕНАЖЁРНЫЙ КОМПЛЕКС»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132588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ЭЛОУ-АВТ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Tutor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640080" y="35204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Компьютерный тренажёрный комплекс с адаптивным ИИ-тьютором: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физическая модель первичной переработки нефти, SCADA-интерфейс и предиктивный анализ рисков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5120640"/>
            <a:ext cx="7315200" cy="868680"/>
          </a:xfrm>
          <a:prstGeom prst="roundRect">
            <a:avLst>
              <a:gd name="adj" fmla="val 8421"/>
            </a:avLst>
          </a:prstGeom>
          <a:solidFill>
            <a:srgbClr val="1B2534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51206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Денис · Андрей · Екатерина · Александра · Саломе · Максим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62179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Live-демо: elou-avt-smart-tutor.onrender.com · Docker-развёртывание одной командой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Проблема: цена ошибки оператора слишком высока для обучения «в бою»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1848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151" y="1775399"/>
            <a:ext cx="289682" cy="289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389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Высокая цена ошибки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00200" y="1755648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Аварийный останов печи или колонны — десятки миллионов рублей потерь, риск повреждения оборудования и вреда экологии.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807208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3191256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51" y="3348167"/>
            <a:ext cx="289682" cy="28968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96265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Дефицит опыта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600200" y="3328416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Молодых операторов всё больше, а опытные не успевают передать «инженерную чуйку». Учиться на реальной установке нельзя.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379976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476402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51" y="4920935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5354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Сложность процесса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600200" y="490118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Нештатные ситуации на ЭЛОУ-АВТ развиваются за минуты и требуют доведённых до автоматизма действий.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0" y="1234440"/>
            <a:ext cx="5239512" cy="5029200"/>
          </a:xfrm>
          <a:prstGeom prst="roundRect">
            <a:avLst>
              <a:gd name="adj" fmla="val 1455"/>
            </a:avLst>
          </a:prstGeom>
          <a:solidFill>
            <a:srgbClr val="0F1722"/>
          </a:solidFill>
          <a:ln/>
        </p:spPr>
      </p:sp>
      <p:sp>
        <p:nvSpPr>
          <p:cNvPr id="19" name="Text 14"/>
          <p:cNvSpPr/>
          <p:nvPr/>
        </p:nvSpPr>
        <p:spPr>
          <a:xfrm>
            <a:off x="6720840" y="146304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Гипотезы кейса — и как их подтверждает прототип</a:t>
            </a:r>
            <a:endParaRPr lang="en-US" sz="16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32257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32320" y="22860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Возможно создать КТК для обучения без рисков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7132320" y="28346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Работающий симулятор с физической моделью и SCADA-интерфейсом, аварии отрабатываются виртуально</a:t>
            </a:r>
            <a:endParaRPr lang="en-US" sz="10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621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358444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Тренажёр сокращает время реагирования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7132320" y="413308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замеряет ход отработки сценариев и выставляет объективную оценку A/B/C/F</a:t>
            </a:r>
            <a:endParaRPr lang="en-US" sz="10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91947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132320" y="488289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помогает осваивать установку быстрее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7132320" y="54315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ИИ-тьютор прогнозирует риск за 15 секунд до порога и разбирает ошибки со ссылкой на регламент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Решение: сквозной учебный маршрут ЭЛОУ → АТ → ВТ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Конкурсный MVP: наиболее детально проработана динамическая модель атмосферного участка П-1/К-1; блоки ЭЛОУ и ВТ представлены агрегированными моделями и связаны с АТ причинно-следственными зависимостями.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108960" cy="2651760"/>
          </a:xfrm>
          <a:prstGeom prst="roundRect">
            <a:avLst>
              <a:gd name="adj" fmla="val 2759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93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ЭЛОУ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14600" y="202996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/>
        </p:spPr>
      </p:sp>
      <p:sp>
        <p:nvSpPr>
          <p:cNvPr id="7" name="Text 5"/>
          <p:cNvSpPr/>
          <p:nvPr/>
        </p:nvSpPr>
        <p:spPr>
          <a:xfrm>
            <a:off x="2514600" y="202996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агрегированно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Электрообессоливание</a:t>
            </a:r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Датчики: соли Sal-1, вода W-1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Клапан деэмульгатора V-ELOU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Дефект: срыв обессоливания →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 режима АТ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30752" y="2953512"/>
            <a:ext cx="502920" cy="402336"/>
          </a:xfrm>
          <a:prstGeom prst="rightArrow">
            <a:avLst/>
          </a:prstGeom>
          <a:solidFill>
            <a:srgbClr val="F5A623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6002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0F1722"/>
          </a:solidFill>
          <a:ln/>
          <a:effectLst>
            <a:outerShdw sx="100000" sy="100000" kx="0" ky="0" algn="bl" rotWithShape="0" blurRad="101600" dist="38100" dir="5400000">
              <a:srgbClr val="9AA7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18105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 · П-1 / К-1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20840" y="184708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184708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детально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44568" y="228600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Атмосферный блок — интерактивная динамика</a:t>
            </a:r>
            <a:pPr indent="0" marL="0">
              <a:lnSpc>
                <a:spcPts val="1550"/>
              </a:lnSpc>
              <a:buNone/>
            </a:pP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Печь П-1: нагрев, охлаждение сырьём, прогар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Колонна К-1: давление, уровень куба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Клапаны V-1 / V-2 / V-3, уставка, ESD</a:t>
            </a:r>
            <a:endParaRPr lang="en-US" sz="11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Блокировки ПАЗ, 8 инжектируемых отказов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73568" y="2953512"/>
            <a:ext cx="502920" cy="402336"/>
          </a:xfrm>
          <a:prstGeom prst="rightArrow">
            <a:avLst/>
          </a:prstGeom>
          <a:solidFill>
            <a:srgbClr val="F5A623"/>
          </a:solidFill>
          <a:ln/>
        </p:spPr>
      </p:sp>
      <p:sp>
        <p:nvSpPr>
          <p:cNvPr id="16" name="Shape 14"/>
          <p:cNvSpPr/>
          <p:nvPr/>
        </p:nvSpPr>
        <p:spPr>
          <a:xfrm>
            <a:off x="8549640" y="1828800"/>
            <a:ext cx="3108960" cy="2651760"/>
          </a:xfrm>
          <a:prstGeom prst="roundRect">
            <a:avLst>
              <a:gd name="adj" fmla="val 2759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78240" y="19933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515600" y="202996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0" y="202996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агрегированно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778240" y="2514600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Вакуумный блок</a:t>
            </a:r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К-2: вакуум P-vac, куб T-2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 на эжекторы ПЭУ (V-VT)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Дефект: срыв вакуума →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уровня куба К-1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956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контур: действие оператора → отклик физики → тревога → подсказка ИИ → оценка и разбор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440680"/>
            <a:ext cx="267919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" y="5504688"/>
            <a:ext cx="2459736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58368" y="5918454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учебных сценариев + GUI-конструктор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10712" y="5440680"/>
            <a:ext cx="267919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520440" y="5504688"/>
            <a:ext cx="2459736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3520440" y="5918454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инжектируемых отказов оборудования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72784" y="5440680"/>
            <a:ext cx="267919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82512" y="5504688"/>
            <a:ext cx="2459736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роли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6382512" y="5918454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и инструктор, JWT/RBAC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134856" y="5440680"/>
            <a:ext cx="267919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244584" y="5504688"/>
            <a:ext cx="2459736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9244584" y="5918454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 физики и интеграции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Техническая реализация: разделение ролей и экранов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577840" cy="4114800"/>
          </a:xfrm>
          <a:prstGeom prst="roundRect">
            <a:avLst>
              <a:gd name="adj" fmla="val 1778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417320"/>
            <a:ext cx="548640" cy="548640"/>
          </a:xfrm>
          <a:prstGeom prst="ellipse">
            <a:avLst/>
          </a:prstGeom>
          <a:solidFill>
            <a:srgbClr val="2C6E9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8132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АРМ Оператора (SCADA)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Мнемосхема всей установки: печь П-1, колонны К-1/К-2, электродегидратор, 7 датчиков, анимация потоков</a:t>
            </a:r>
            <a:endParaRPr lang="en-US" sz="12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Управление: клапаны V-1/V-2/V-3, уставка печи 100–340 °C, аварийный останов ESD, звонок диспетчеру</a:t>
            </a:r>
            <a:endParaRPr lang="en-US" sz="12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журнал событий с фильтрами и посекундной меткой времени</a:t>
            </a:r>
            <a:endParaRPr lang="en-US" sz="120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ИИ-ассистент: риск аварии, упреждающие подсказки, чат по регламенту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355080" y="1188720"/>
            <a:ext cx="5285232" cy="4114800"/>
          </a:xfrm>
          <a:prstGeom prst="roundRect">
            <a:avLst>
              <a:gd name="adj" fmla="val 1778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629400" y="1417320"/>
            <a:ext cx="548640" cy="548640"/>
          </a:xfrm>
          <a:prstGeom prst="ellipse">
            <a:avLst/>
          </a:prstGeom>
          <a:solidFill>
            <a:srgbClr val="C87F0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14813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АРМ Инструктора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675120" y="224028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сценариев (пуск, останов, авария) и режимов Обучение/Экзамен</a:t>
            </a:r>
            <a:endParaRPr lang="en-US" sz="12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Инъекция отказов: насос, прогар змеевика, клапан, электроэнергия, воздух КИПиА, пар</a:t>
            </a:r>
            <a:endParaRPr lang="en-US" sz="12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Пауза, снапшоты состояния, параллельные сессии операторов</a:t>
            </a:r>
            <a:endParaRPr lang="en-US" sz="12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GUI-конструктор сценариев: шаги, эталонная последовательность, импорт JSON</a:t>
            </a:r>
            <a:endParaRPr lang="en-US" sz="12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сессий с оценками и контролем целостности записей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5532120"/>
            <a:ext cx="267919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76656" y="5641848"/>
            <a:ext cx="530352" cy="530352"/>
          </a:xfrm>
          <a:prstGeom prst="ellipse">
            <a:avLst/>
          </a:prstGeom>
          <a:solidFill>
            <a:srgbClr val="E8F0F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48" y="5779740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98448" y="5532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Таймер сессии и лимит времени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410712" y="5532120"/>
            <a:ext cx="267919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3538728" y="5641848"/>
            <a:ext cx="530352" cy="530352"/>
          </a:xfrm>
          <a:prstGeom prst="ellipse">
            <a:avLst/>
          </a:prstGeom>
          <a:solidFill>
            <a:srgbClr val="E8F0F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20" y="5779740"/>
            <a:ext cx="254569" cy="25456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160520" y="5532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+ аудит действий в БД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272784" y="5532120"/>
            <a:ext cx="267919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400800" y="5641848"/>
            <a:ext cx="530352" cy="530352"/>
          </a:xfrm>
          <a:prstGeom prst="ellipse">
            <a:avLst/>
          </a:prstGeom>
          <a:solidFill>
            <a:srgbClr val="E8F0F7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8692" y="5779740"/>
            <a:ext cx="254569" cy="254569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22592" y="5532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Замер задержки WS (ping в UI)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9134856" y="5532120"/>
            <a:ext cx="267919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262872" y="5641848"/>
            <a:ext cx="530352" cy="530352"/>
          </a:xfrm>
          <a:prstGeom prst="ellipse">
            <a:avLst/>
          </a:prstGeom>
          <a:solidFill>
            <a:srgbClr val="E8F0F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0764" y="5779740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884664" y="55321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Реконнект без потери сессии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ИТ-архитектура: модульный монорепозиторий, готовый к масштабированию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852160" cy="5074920"/>
          </a:xfrm>
          <a:prstGeom prst="roundRect">
            <a:avLst>
              <a:gd name="adj" fmla="val 1441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5544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2C6E9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 Оператора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703320" y="15544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2C6E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03320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 Инструктора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Ant Design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74720" y="2331720"/>
            <a:ext cx="0" cy="502920"/>
          </a:xfrm>
          <a:prstGeom prst="line">
            <a:avLst/>
          </a:prstGeom>
          <a:noFill/>
          <a:ln w="31750">
            <a:solidFill>
              <a:srgbClr val="C87F0A"/>
            </a:solidFill>
            <a:prstDash val="solid"/>
            <a:headEnd type="triangl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749040" y="2395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1 Гц + REST/JWT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68680" y="2880360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0F172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803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оркестратор изолированных сессий · RBAC · аудит SHA-256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0" cy="365760"/>
          </a:xfrm>
          <a:prstGeom prst="line">
            <a:avLst/>
          </a:prstGeom>
          <a:noFill/>
          <a:ln w="2222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68680" y="4023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C87F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233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Симулятор физики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шаг 1 с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429000" y="3657600"/>
            <a:ext cx="0" cy="365760"/>
          </a:xfrm>
          <a:prstGeom prst="line">
            <a:avLst/>
          </a:prstGeom>
          <a:noFill/>
          <a:ln w="2222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651760" y="4023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2C6E9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40233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ИИ-ядро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(ONNX) + LCS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12080" y="3657600"/>
            <a:ext cx="0" cy="365760"/>
          </a:xfrm>
          <a:prstGeom prst="line">
            <a:avLst/>
          </a:prstGeom>
          <a:noFill/>
          <a:ln w="2222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34840" y="4023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2C6E9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40233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PostgreSQL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целостность записей</a:t>
            </a:r>
            <a:endParaRPr lang="en-US" sz="95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5074920"/>
            <a:ext cx="384048" cy="38404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71600" y="50292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Многостадийная Docker-сборка: фронтенд + бэкенд + модели в одном образе, запуск одной командой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675120" y="13258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Обоснование стека (100% open source, реестр Минцифры не требуется)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675120" y="19659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асинхронный WebSocket и авто-OpenAPI при производительности уровня Go</a:t>
            </a:r>
            <a:endParaRPr lang="en-US" sz="1150" dirty="0"/>
          </a:p>
          <a:p>
            <a:pPr marL="342900" indent="-342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— инференс LSTM на CPU без тяжёлого PyTorch в продакшене</a:t>
            </a:r>
            <a:endParaRPr lang="en-US" sz="1150" dirty="0"/>
          </a:p>
          <a:p>
            <a:pPr marL="342900" indent="-342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строгая типизация SCADA-мнемосхемы</a:t>
            </a:r>
            <a:endParaRPr lang="en-US" sz="1150" dirty="0"/>
          </a:p>
          <a:p>
            <a:pPr marL="342900" indent="-342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Рассмотрены 3 варианта (коробочное ПО, своя разработка, гибрид) — выбор обоснован по TCO и импортозамещению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675120" y="4297680"/>
            <a:ext cx="4965192" cy="2011680"/>
          </a:xfrm>
          <a:prstGeom prst="roundRect">
            <a:avLst>
              <a:gd name="adj" fmla="val 3636"/>
            </a:avLst>
          </a:prstGeom>
          <a:solidFill>
            <a:srgbClr val="0F1722"/>
          </a:solidFill>
          <a:ln/>
        </p:spPr>
      </p:sp>
      <p:sp>
        <p:nvSpPr>
          <p:cNvPr id="26" name="Text 23"/>
          <p:cNvSpPr/>
          <p:nvPr/>
        </p:nvSpPr>
        <p:spPr>
          <a:xfrm>
            <a:off x="6903720" y="4480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промышленная архитектура (проект)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03720" y="48920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Kubernetes: контейнер-на-сессию (0.5 CPU / 128 МБ), выделенный ИИ-узел, PostgreSQL с репликацией, Nginx/WSS, интеграции LMS · SAP ТОиР · DCS. Модули MVP переносятся без перепроектирования.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ИИ-тьютор: от фиксации действий до прогноза риска за 15 секунд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989320" cy="896112"/>
          </a:xfrm>
          <a:prstGeom prst="roundRect">
            <a:avLst>
              <a:gd name="adj" fmla="val 816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435608"/>
            <a:ext cx="493776" cy="493776"/>
          </a:xfrm>
          <a:prstGeom prst="ellipse">
            <a:avLst/>
          </a:prstGeom>
          <a:solidFill>
            <a:srgbClr val="2C6E9B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356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3441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Фиксация действий и сравнение с эталоном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417320" y="16916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действие — в журнал и аудит БД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258568"/>
            <a:ext cx="5989320" cy="896112"/>
          </a:xfrm>
          <a:prstGeom prst="roundRect">
            <a:avLst>
              <a:gd name="adj" fmla="val 816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459736"/>
            <a:ext cx="493776" cy="493776"/>
          </a:xfrm>
          <a:prstGeom prst="ellipse">
            <a:avLst/>
          </a:prstGeom>
          <a:solidFill>
            <a:srgbClr val="2C6E9B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4597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3682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типовых ошибок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417320" y="2715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семантических правил: сухой ход, горячий останов, перелив…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989320" cy="896112"/>
          </a:xfrm>
          <a:prstGeom prst="roundRect">
            <a:avLst>
              <a:gd name="adj" fmla="val 8163"/>
            </a:avLst>
          </a:prstGeom>
          <a:solidFill>
            <a:srgbClr val="FDF3E3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483864"/>
            <a:ext cx="493776" cy="493776"/>
          </a:xfrm>
          <a:prstGeom prst="ellipse">
            <a:avLst/>
          </a:prstGeom>
          <a:solidFill>
            <a:srgbClr val="C87F0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33924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Локализация ошибок во времени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417320" y="37398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7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Привязка нарушения к моменту и шагу сценария  ·  в работе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306824"/>
            <a:ext cx="5989320" cy="896112"/>
          </a:xfrm>
          <a:prstGeom prst="roundRect">
            <a:avLst>
              <a:gd name="adj" fmla="val 816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49808" y="4507992"/>
            <a:ext cx="493776" cy="493776"/>
          </a:xfrm>
          <a:prstGeom prst="ellipse">
            <a:avLst/>
          </a:prstGeom>
          <a:solidFill>
            <a:srgbClr val="2C6E9B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5079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416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Интерпретированная обратная связь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17320" y="47640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ошибка — со ссылкой на пункт техрегламента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30952"/>
            <a:ext cx="5989320" cy="896112"/>
          </a:xfrm>
          <a:prstGeom prst="roundRect">
            <a:avLst>
              <a:gd name="adj" fmla="val 816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9808" y="5532120"/>
            <a:ext cx="493776" cy="493776"/>
          </a:xfrm>
          <a:prstGeom prst="ellipse">
            <a:avLst/>
          </a:prstGeom>
          <a:solidFill>
            <a:srgbClr val="2C6E9B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55321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17320" y="5440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Адаптивные сценарии + прогноз до ошибки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417320" y="5788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Персональная траектория из 11 сценариев + LSTM-упреждение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58000" y="1234440"/>
            <a:ext cx="4782312" cy="2651760"/>
          </a:xfrm>
          <a:prstGeom prst="roundRect">
            <a:avLst>
              <a:gd name="adj" fmla="val 2759"/>
            </a:avLst>
          </a:prstGeom>
          <a:solidFill>
            <a:srgbClr val="0F1722"/>
          </a:solidFill>
          <a:ln/>
        </p:spPr>
      </p:sp>
      <p:sp>
        <p:nvSpPr>
          <p:cNvPr id="29" name="Text 27"/>
          <p:cNvSpPr/>
          <p:nvPr/>
        </p:nvSpPr>
        <p:spPr>
          <a:xfrm>
            <a:off x="7086600" y="1417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валидация RiskLSTM (тест 10 330 окон)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с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7086600" y="2606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упреждение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(Lead Time)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686800" y="18288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8686800" y="2606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— ни одна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авария не пропущена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37844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4000" dirty="0"/>
          </a:p>
        </p:txBody>
      </p:sp>
      <p:sp>
        <p:nvSpPr>
          <p:cNvPr id="35" name="Text 33"/>
          <p:cNvSpPr/>
          <p:nvPr/>
        </p:nvSpPr>
        <p:spPr>
          <a:xfrm>
            <a:off x="10378440" y="26060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— цель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следующей итерации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86600" y="32461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 MVP: «лучше ложная тревога, чем пропуск аварии». Модель обучена на синтетике физсимулятора; калибровка на архивной телеметрии — этап пилота.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58000" y="4114800"/>
            <a:ext cx="475488" cy="475488"/>
          </a:xfrm>
          <a:prstGeom prst="ellipse">
            <a:avLst/>
          </a:prstGeom>
          <a:solidFill>
            <a:srgbClr val="E8F0F7"/>
          </a:solidFill>
          <a:ln/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1627" y="4238427"/>
            <a:ext cx="228234" cy="22823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498080" y="4078224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2×64 (ONNX Runtime) — прогноз T/P/L на t+15 с, при сбое — детерминированный polyfit-fallback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0" y="4864608"/>
            <a:ext cx="475488" cy="475488"/>
          </a:xfrm>
          <a:prstGeom prst="ellipse">
            <a:avLst/>
          </a:prstGeom>
          <a:solidFill>
            <a:srgbClr val="E8F0F7"/>
          </a:solidFill>
          <a:ln/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1627" y="4988235"/>
            <a:ext cx="228234" cy="228234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498080" y="4828032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LCS-выравнивание последовательности действий с эталоном — оценка порядка операций независимо от темпа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6858000" y="5614416"/>
            <a:ext cx="475488" cy="475488"/>
          </a:xfrm>
          <a:prstGeom prst="ellipse">
            <a:avLst/>
          </a:prstGeom>
          <a:solidFill>
            <a:srgbClr val="E8F0F7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627" y="5738043"/>
            <a:ext cx="228234" cy="228234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7498080" y="55778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RAG-база знаний регламента с порогом релевантности (без галлюцинаций) + анти-prompt-injection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Информационная безопасность: результаты обучения нельзя подделать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639312" cy="1783080"/>
          </a:xfrm>
          <a:prstGeom prst="roundRect">
            <a:avLst>
              <a:gd name="adj" fmla="val 410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43560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1578254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44752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Аутентификация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68096" y="21031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HS256 (2 ч) + bcrypt-хэши паролей, fail-to-ban после 5 попыток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370832" y="1234440"/>
            <a:ext cx="3639312" cy="1783080"/>
          </a:xfrm>
          <a:prstGeom prst="roundRect">
            <a:avLst>
              <a:gd name="adj" fmla="val 410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0" y="143560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157825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66944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на сервере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90288" y="21031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Команды инструктора блокируются для оператора на уровне WebSocket-обработчика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193024" y="1234440"/>
            <a:ext cx="3639312" cy="1783080"/>
          </a:xfrm>
          <a:prstGeom prst="roundRect">
            <a:avLst>
              <a:gd name="adj" fmla="val 410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94192" y="143560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838" y="1578254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89136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Целостность SHA-256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8412480" y="210312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запись результатов подписана хэшем с секретной солью; подмена в БД видна мгновенно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48640" y="3200400"/>
            <a:ext cx="3639312" cy="1783080"/>
          </a:xfrm>
          <a:prstGeom prst="roundRect">
            <a:avLst>
              <a:gd name="adj" fmla="val 410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340156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3544214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44752" y="34564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аудит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768096" y="40690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типов событий: вход, клапаны, дефекты, ESD, нарушения целостности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370832" y="3200400"/>
            <a:ext cx="3639312" cy="1783080"/>
          </a:xfrm>
          <a:prstGeom prst="roundRect">
            <a:avLst>
              <a:gd name="adj" fmla="val 410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72000" y="340156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646" y="3544214"/>
            <a:ext cx="263347" cy="26334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266944" y="34564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Защита от перегрузки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4590288" y="40690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30 сообщений/с на сокет, heartbeat с разрывом зависших сессий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8193024" y="3200400"/>
            <a:ext cx="3639312" cy="1783080"/>
          </a:xfrm>
          <a:prstGeom prst="roundRect">
            <a:avLst>
              <a:gd name="adj" fmla="val 410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94192" y="340156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6838" y="3544214"/>
            <a:ext cx="263347" cy="263347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089136" y="34564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 ИИ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8412480" y="40690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np.clip-фильтр состязательных входов, модели read-only, детерминированный fallback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548640" y="52578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0F1722"/>
          </a:solidFill>
          <a:ln/>
        </p:spPr>
      </p:sp>
      <p:sp>
        <p:nvSpPr>
          <p:cNvPr id="34" name="Text 26"/>
          <p:cNvSpPr/>
          <p:nvPr/>
        </p:nvSpPr>
        <p:spPr>
          <a:xfrm>
            <a:off x="822960" y="52578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угроз: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НСД к функциям инструктора · подмена логов и оценок · DoS симулятора — для каждой определены меры и схема реагирования.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Классификация данных: УЗ-3 по ФЗ-152, подход по ГОСТ Р 57580.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Инфраструктура: лёгкий клиент, изолируемые вычисления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 к рабочим местам и серверу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 — любой ПК с браузером Chromium: 2 ядра, 4 ГБ ОЗУ, 1920×1080. Установка ПО не требуется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MVP: 8 ядер / 16 ГБ на 50 сессий (расчётно)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физики &lt;5 мс, инференс ИИ &lt;15 мс, отклик &lt;200 мс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задержек — встроен в продукт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389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Ping-pong замер каждые 3 с, значение видно оператору и инструктору прямо в интерфейсе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 1 Гц по WebSocket, мгновенный отклик на команды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реконнект при обрыве связи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234440"/>
            <a:ext cx="5285232" cy="5074920"/>
          </a:xfrm>
          <a:prstGeom prst="roundRect">
            <a:avLst>
              <a:gd name="adj" fmla="val 1441"/>
            </a:avLst>
          </a:prstGeom>
          <a:solidFill>
            <a:srgbClr val="0F1722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417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Честное разделение: MVP сегодня → промышленный контур завтра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2940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Docker-образ, SQLite, сессии в памяти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Kubernetes: контейнер-на-сессию, PostgreSQL Master-Slave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294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и результаты — в БД с контролем целостности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2940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WAL-бэкапы каждые 15 мин, PITR-восстановление, AES-256 архив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2940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сервер приложений и ИИ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29400" y="4709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Обособленный ИИ-узел (GPU), очередь сообщений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29400" y="5257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контроль состояния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629400" y="5715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 Prometheus + Grafana, алерты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Экономика: проект окупается и снижает стоимость рисков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37160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5.66 млн ₽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— чистая приведённая стоимость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10712" y="123444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47872" y="137160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3547872" y="2011680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— индекс доходности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72784" y="123444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9944" y="137160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3.71 года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9944" y="2011680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— срок окупаемости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34856" y="123444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E8F0F7"/>
          </a:solidFill>
          <a:ln/>
          <a:effectLst>
            <a:outerShdw sx="100000" sy="100000" kx="0" ky="0" algn="bl" rotWithShape="0" blurRad="76200" dist="25400" dir="5400000">
              <a:srgbClr val="9AA7B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272016" y="1371600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C6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9272016" y="2011680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при барьерной ставке 14%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8803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эффекта (5-летний горизонт, TCO 10.83 млн ₽)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29184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вероятности аварийного останова с 0.15 до 0.02 в год — предотвращённый ущерб 7.4 млн ₽/год (ущерб останова ~56.9 млн ₽)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Аттестация: 16 ч работы инструктора → 1 ч автоматической оценки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оператора в строй: 320 → 240 часов наставничества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B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Корзина «Безопасная эксплуатация» — приоритетное финансирование HSE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2880360"/>
            <a:ext cx="5148072" cy="3429000"/>
          </a:xfrm>
          <a:prstGeom prst="roundRect">
            <a:avLst>
              <a:gd name="adj" fmla="val 2133"/>
            </a:avLst>
          </a:prstGeom>
          <a:solidFill>
            <a:srgbClr val="0F1722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30632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Отличие от DeltaSim / ИНИУС / ТЕКОН</a:t>
            </a:r>
            <a:endParaRPr lang="en-US" sz="14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593592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150608" y="356616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Веб-архитектура без установки ПО и лицензий на АРМ — ниже TCO, развёртывание за минуты (Docker)</a:t>
            </a:r>
            <a:endParaRPr lang="en-US" sz="11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489704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150608" y="4462272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Предиктивный ИИ-контроль рисков вместо констатации аварии постфактум</a:t>
            </a:r>
            <a:endParaRPr lang="en-US" sz="11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5385816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150608" y="535838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логики действий (LCS), а не жёстких временных окон — адаптивный ИИ-тьютор в базовой поставке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Готовы показать вживую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Интерактивная демонстрация в реальном времени: инструктор запускает сценарий и отказ — оператор парирует — ИИ прогнозирует риск и разбирает ошибки — система выставляет защищённую оценку.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1B2534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743200"/>
            <a:ext cx="566928" cy="566928"/>
          </a:xfrm>
          <a:prstGeom prst="ellipse">
            <a:avLst/>
          </a:prstGeom>
          <a:solidFill>
            <a:srgbClr val="0F17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89060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79806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работает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96112" y="35204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маршрут ЭЛОУ–АТ–ВТ, 7 сценариев, 8 отказов, ИИ-тьютор, защита результатов, 41 автотест, Docker-развёртывание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43400" y="25146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1B2534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743200"/>
            <a:ext cx="566928" cy="566928"/>
          </a:xfrm>
          <a:prstGeom prst="ellipse">
            <a:avLst/>
          </a:prstGeom>
          <a:solidFill>
            <a:srgbClr val="0F17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401" y="289060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76088" y="279806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Границы MVP — зафиксированы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99432" y="35204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Детальная динамика — атмосферный блок П-1/К-1; ЭЛОУ и ВТ — агрегированные модели. Тренажёр не является средством допуска персонала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46720" y="25146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1B2534"/>
          </a:solidFill>
          <a:ln/>
        </p:spPr>
      </p:sp>
      <p:sp>
        <p:nvSpPr>
          <p:cNvPr id="15" name="Shape 11"/>
          <p:cNvSpPr/>
          <p:nvPr/>
        </p:nvSpPr>
        <p:spPr>
          <a:xfrm>
            <a:off x="8275320" y="2743200"/>
            <a:ext cx="566928" cy="566928"/>
          </a:xfrm>
          <a:prstGeom prst="ellipse">
            <a:avLst/>
          </a:prstGeom>
          <a:solidFill>
            <a:srgbClr val="0F17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721" y="289060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9408" y="279806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Дорожная карта пилота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02752" y="35204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уставок технологом → калибровка физики и ИИ на архивной телеметрии → детализация ЭЛОУ и ВТ → промышленный контур в K8s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ЭЛОУ-АВТ Smart Tutor готова ответить на вопросы.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elou-avt-smart-tutor.onrender.com · демо-доступ: operator_1 / instructor_1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ЭЛОУ-АВТ Smart Tutor — КТК с адаптивным ИИ-тьютором</dc:title>
  <dc:subject>PptxGenJS Presentation</dc:subject>
  <dc:creator>Команда ЭЛОУ-АВТ Smart Tutor</dc:creator>
  <cp:lastModifiedBy>Команда ЭЛОУ-АВТ Smart Tutor</cp:lastModifiedBy>
  <cp:revision>1</cp:revision>
  <dcterms:created xsi:type="dcterms:W3CDTF">2026-07-31T23:33:38Z</dcterms:created>
  <dcterms:modified xsi:type="dcterms:W3CDTF">2026-07-31T23:33:38Z</dcterms:modified>
</cp:coreProperties>
</file>